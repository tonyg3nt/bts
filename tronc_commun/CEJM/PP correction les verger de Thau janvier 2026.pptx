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8142"/>
            <a:ext cx="8229600" cy="1224116"/>
          </a:xfrm>
        </p:spPr>
        <p:txBody>
          <a:bodyPr>
            <a:normAutofit/>
          </a:bodyPr>
          <a:lstStyle/>
          <a:p>
            <a:r>
              <a:rPr b="1" dirty="0">
                <a:latin typeface="Arial" panose="020B0604020202020204" pitchFamily="34" charset="0"/>
                <a:cs typeface="Arial" panose="020B0604020202020204" pitchFamily="34" charset="0"/>
              </a:rPr>
              <a:t>CEJM – BTS SIO 1ère </a:t>
            </a:r>
            <a:r>
              <a:rPr b="1" dirty="0" err="1">
                <a:latin typeface="Arial" panose="020B0604020202020204" pitchFamily="34" charset="0"/>
                <a:cs typeface="Arial" panose="020B0604020202020204" pitchFamily="34" charset="0"/>
              </a:rPr>
              <a:t>année</a:t>
            </a:r>
            <a:endParaRPr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3429001"/>
            <a:ext cx="8229600" cy="744794"/>
          </a:xfrm>
        </p:spPr>
        <p:txBody>
          <a:bodyPr>
            <a:normAutofit/>
          </a:bodyPr>
          <a:lstStyle/>
          <a:p>
            <a:pPr marL="0" indent="0" algn="ctr">
              <a:buNone/>
            </a:pPr>
            <a:r>
              <a:rPr sz="2800" dirty="0">
                <a:latin typeface="Arial" panose="020B0604020202020204" pitchFamily="34" charset="0"/>
                <a:cs typeface="Arial" panose="020B0604020202020204" pitchFamily="34" charset="0"/>
              </a:rPr>
              <a:t>Étude de </a:t>
            </a:r>
            <a:r>
              <a:rPr sz="2800" dirty="0" err="1">
                <a:latin typeface="Arial" panose="020B0604020202020204" pitchFamily="34" charset="0"/>
                <a:cs typeface="Arial" panose="020B0604020202020204" pitchFamily="34" charset="0"/>
              </a:rPr>
              <a:t>cas</a:t>
            </a:r>
            <a:r>
              <a:rPr sz="2800" dirty="0">
                <a:latin typeface="Arial" panose="020B0604020202020204" pitchFamily="34" charset="0"/>
                <a:cs typeface="Arial" panose="020B0604020202020204" pitchFamily="34" charset="0"/>
              </a:rPr>
              <a:t> : </a:t>
            </a:r>
            <a:r>
              <a:rPr sz="2800" dirty="0" err="1">
                <a:latin typeface="Arial" panose="020B0604020202020204" pitchFamily="34" charset="0"/>
                <a:cs typeface="Arial" panose="020B0604020202020204" pitchFamily="34" charset="0"/>
              </a:rPr>
              <a:t>L’entreprise</a:t>
            </a:r>
            <a:r>
              <a:rPr sz="2800" dirty="0">
                <a:latin typeface="Arial" panose="020B0604020202020204" pitchFamily="34" charset="0"/>
                <a:cs typeface="Arial" panose="020B0604020202020204" pitchFamily="34" charset="0"/>
              </a:rPr>
              <a:t> « Verger de Thau </a:t>
            </a:r>
            <a:r>
              <a:rPr lang="fr-FR" sz="2800" dirty="0">
                <a:latin typeface="Arial" panose="020B0604020202020204" pitchFamily="34" charset="0"/>
                <a:cs typeface="Arial" panose="020B0604020202020204" pitchFamily="34"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3220"/>
          </a:xfrm>
        </p:spPr>
        <p:txBody>
          <a:bodyPr>
            <a:noAutofit/>
          </a:bodyPr>
          <a:lstStyle/>
          <a:p>
            <a:r>
              <a:rPr lang="fr-FR" sz="2400" b="1" dirty="0">
                <a:latin typeface="Arial" panose="020B0604020202020204" pitchFamily="34" charset="0"/>
                <a:cs typeface="Arial" panose="020B0604020202020204" pitchFamily="34" charset="0"/>
              </a:rPr>
              <a:t>1.1 Caractérisez l’entreprise « verger de Thau » (3 points)</a:t>
            </a:r>
            <a:endParaRPr sz="24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17638"/>
            <a:ext cx="8229600" cy="4708525"/>
          </a:xfrm>
        </p:spPr>
        <p:txBody>
          <a:bodyPr>
            <a:normAutofit/>
          </a:bodyPr>
          <a:lstStyle/>
          <a:p>
            <a:pPr marL="0" indent="0" algn="just">
              <a:buNone/>
            </a:pPr>
            <a:r>
              <a:rPr lang="fr-FR" sz="2200" dirty="0">
                <a:latin typeface="Arial" panose="020B0604020202020204" pitchFamily="34" charset="0"/>
                <a:cs typeface="Arial" panose="020B0604020202020204" pitchFamily="34" charset="0"/>
              </a:rPr>
              <a:t>L’entreprise Les verger de Thau a été, dans un premier temps une </a:t>
            </a:r>
            <a:r>
              <a:rPr lang="fr-FR" sz="2200" b="1" dirty="0">
                <a:latin typeface="Arial" panose="020B0604020202020204" pitchFamily="34" charset="0"/>
                <a:cs typeface="Arial" panose="020B0604020202020204" pitchFamily="34" charset="0"/>
              </a:rPr>
              <a:t>entreprise commerciale </a:t>
            </a:r>
            <a:r>
              <a:rPr lang="fr-FR" sz="2200" dirty="0">
                <a:latin typeface="Arial" panose="020B0604020202020204" pitchFamily="34" charset="0"/>
                <a:cs typeface="Arial" panose="020B0604020202020204" pitchFamily="34" charset="0"/>
              </a:rPr>
              <a:t>avec la vente directe de fruits. Suite à un constat que 20 à 30 % des fruits cultivés ne sont pas vendus, ils décident de transformer la structure en </a:t>
            </a:r>
            <a:r>
              <a:rPr lang="fr-FR" sz="2200" b="1" dirty="0">
                <a:latin typeface="Arial" panose="020B0604020202020204" pitchFamily="34" charset="0"/>
                <a:cs typeface="Arial" panose="020B0604020202020204" pitchFamily="34" charset="0"/>
              </a:rPr>
              <a:t>entreprise</a:t>
            </a:r>
            <a:r>
              <a:rPr lang="fr-FR" sz="2200" dirty="0">
                <a:latin typeface="Arial" panose="020B0604020202020204" pitchFamily="34" charset="0"/>
                <a:cs typeface="Arial" panose="020B0604020202020204" pitchFamily="34" charset="0"/>
              </a:rPr>
              <a:t> </a:t>
            </a:r>
            <a:r>
              <a:rPr lang="fr-FR" sz="2200" b="1" dirty="0">
                <a:latin typeface="Arial" panose="020B0604020202020204" pitchFamily="34" charset="0"/>
                <a:cs typeface="Arial" panose="020B0604020202020204" pitchFamily="34" charset="0"/>
              </a:rPr>
              <a:t>industrielle</a:t>
            </a:r>
            <a:r>
              <a:rPr lang="fr-FR" sz="2200" dirty="0">
                <a:latin typeface="Arial" panose="020B0604020202020204" pitchFamily="34" charset="0"/>
                <a:cs typeface="Arial" panose="020B0604020202020204" pitchFamily="34" charset="0"/>
              </a:rPr>
              <a:t> avec la production de jus de fruits et de nectars. (2 points)</a:t>
            </a:r>
          </a:p>
          <a:p>
            <a:pPr marL="0" indent="0" algn="just">
              <a:buNone/>
            </a:pPr>
            <a:r>
              <a:rPr lang="fr-FR" sz="2200" dirty="0">
                <a:latin typeface="Arial" panose="020B0604020202020204" pitchFamily="34" charset="0"/>
                <a:cs typeface="Arial" panose="020B0604020202020204" pitchFamily="34" charset="0"/>
              </a:rPr>
              <a:t>L’entreprise produit 150 000 bouteilles par an pour des professionnels ou directement à des particuliers pour un chiffre d’affaires de 260 000 €. Elle emploie deux salariés. (1 point)</a:t>
            </a:r>
          </a:p>
          <a:p>
            <a:pPr marL="0" indent="0" algn="just">
              <a:buNone/>
            </a:pPr>
            <a:endParaRPr lang="fr-FR" sz="2200" dirty="0">
              <a:latin typeface="Arial" panose="020B0604020202020204" pitchFamily="34" charset="0"/>
              <a:cs typeface="Arial" panose="020B0604020202020204" pitchFamily="34" charset="0"/>
            </a:endParaRPr>
          </a:p>
          <a:p>
            <a:pPr marL="0" indent="0" algn="just">
              <a:buNone/>
            </a:pPr>
            <a:r>
              <a:rPr lang="fr-FR" sz="2200" dirty="0">
                <a:latin typeface="Arial" panose="020B0604020202020204" pitchFamily="34" charset="0"/>
                <a:cs typeface="Arial" panose="020B0604020202020204" pitchFamily="34" charset="0"/>
              </a:rPr>
              <a:t>On peut lui rajouter une activité périphérique de </a:t>
            </a:r>
            <a:r>
              <a:rPr lang="fr-FR" sz="2200" b="1" dirty="0">
                <a:latin typeface="Arial" panose="020B0604020202020204" pitchFamily="34" charset="0"/>
                <a:cs typeface="Arial" panose="020B0604020202020204" pitchFamily="34" charset="0"/>
              </a:rPr>
              <a:t>service</a:t>
            </a:r>
            <a:r>
              <a:rPr lang="fr-FR" sz="2200" dirty="0">
                <a:latin typeface="Arial" panose="020B0604020202020204" pitchFamily="34" charset="0"/>
                <a:cs typeface="Arial" panose="020B0604020202020204" pitchFamily="34" charset="0"/>
              </a:rPr>
              <a:t> puisqu’elle propose aussi aux particuliers d’utiliser leur atelier de fabrication.</a:t>
            </a:r>
          </a:p>
          <a:p>
            <a:pPr marL="0" indent="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968"/>
            <a:ext cx="8229600" cy="840658"/>
          </a:xfrm>
        </p:spPr>
        <p:txBody>
          <a:bodyPr>
            <a:normAutofit fontScale="90000"/>
          </a:bodyPr>
          <a:lstStyle/>
          <a:p>
            <a:br>
              <a:rPr lang="fr-FR" sz="2200" b="1" dirty="0">
                <a:latin typeface="Arial" panose="020B0604020202020204" pitchFamily="34" charset="0"/>
                <a:cs typeface="Arial" panose="020B0604020202020204" pitchFamily="34" charset="0"/>
              </a:rPr>
            </a:br>
            <a:r>
              <a:rPr lang="fr-FR" sz="2200" b="1" dirty="0">
                <a:latin typeface="Arial" panose="020B0604020202020204" pitchFamily="34" charset="0"/>
                <a:cs typeface="Arial" panose="020B0604020202020204" pitchFamily="34" charset="0"/>
              </a:rPr>
              <a:t>1.2 Analyser les externalités positives créées par l’entreprise « Verger de Thau » (3 points)</a:t>
            </a:r>
            <a:br>
              <a:rPr lang="fr-FR" dirty="0"/>
            </a:br>
            <a:endParaRPr dirty="0"/>
          </a:p>
        </p:txBody>
      </p:sp>
      <p:sp>
        <p:nvSpPr>
          <p:cNvPr id="3" name="Content Placeholder 2"/>
          <p:cNvSpPr>
            <a:spLocks noGrp="1"/>
          </p:cNvSpPr>
          <p:nvPr>
            <p:ph idx="1"/>
          </p:nvPr>
        </p:nvSpPr>
        <p:spPr>
          <a:xfrm>
            <a:off x="457200" y="973394"/>
            <a:ext cx="8229600" cy="5152769"/>
          </a:xfrm>
        </p:spPr>
        <p:txBody>
          <a:bodyPr>
            <a:normAutofit fontScale="92500" lnSpcReduction="10000"/>
          </a:bodyPr>
          <a:lstStyle/>
          <a:p>
            <a:pPr marL="0" indent="0" algn="just">
              <a:buNone/>
            </a:pPr>
            <a:r>
              <a:rPr lang="fr-FR" sz="2200" b="1" dirty="0">
                <a:latin typeface="Arial" panose="020B0604020202020204" pitchFamily="34" charset="0"/>
                <a:cs typeface="Arial" panose="020B0604020202020204" pitchFamily="34" charset="0"/>
              </a:rPr>
              <a:t>Définition de l’externalité positive </a:t>
            </a:r>
            <a:r>
              <a:rPr lang="fr-FR" sz="2200" dirty="0">
                <a:latin typeface="Arial" panose="020B0604020202020204" pitchFamily="34" charset="0"/>
                <a:cs typeface="Arial" panose="020B0604020202020204" pitchFamily="34" charset="0"/>
              </a:rPr>
              <a:t>(1 point) + 0.5 par proposition pour un max de 2 points. Possibilité de rajouter des idées qui ne sont pas dans le corrigé</a:t>
            </a:r>
          </a:p>
          <a:p>
            <a:pPr marL="0" indent="0" algn="just">
              <a:buNone/>
            </a:pPr>
            <a:endParaRPr lang="fr-FR" sz="2200" dirty="0">
              <a:latin typeface="Arial" panose="020B0604020202020204" pitchFamily="34" charset="0"/>
              <a:cs typeface="Arial" panose="020B0604020202020204" pitchFamily="34" charset="0"/>
            </a:endParaRPr>
          </a:p>
          <a:p>
            <a:pPr marL="0" indent="0" algn="just">
              <a:buNone/>
            </a:pPr>
            <a:r>
              <a:rPr lang="fr-FR" sz="2200" b="1" dirty="0">
                <a:latin typeface="Arial" panose="020B0604020202020204" pitchFamily="34" charset="0"/>
                <a:cs typeface="Arial" panose="020B0604020202020204" pitchFamily="34" charset="0"/>
              </a:rPr>
              <a:t>L’annexe 3 permet de relever deux premières externalités positives :</a:t>
            </a:r>
            <a:endParaRPr lang="fr-FR" sz="2200" dirty="0">
              <a:latin typeface="Arial" panose="020B0604020202020204" pitchFamily="34" charset="0"/>
              <a:cs typeface="Arial" panose="020B0604020202020204" pitchFamily="34" charset="0"/>
            </a:endParaRPr>
          </a:p>
          <a:p>
            <a:pPr lvl="0" algn="just"/>
            <a:r>
              <a:rPr lang="fr-FR" sz="2200" dirty="0">
                <a:latin typeface="Arial" panose="020B0604020202020204" pitchFamily="34" charset="0"/>
                <a:cs typeface="Arial" panose="020B0604020202020204" pitchFamily="34" charset="0"/>
              </a:rPr>
              <a:t>la filière du jus de fruits a un impact très positif sur l’emploi </a:t>
            </a:r>
          </a:p>
          <a:p>
            <a:pPr lvl="0" algn="just"/>
            <a:r>
              <a:rPr lang="fr-FR" sz="2200" dirty="0">
                <a:latin typeface="Arial" panose="020B0604020202020204" pitchFamily="34" charset="0"/>
                <a:cs typeface="Arial" panose="020B0604020202020204" pitchFamily="34" charset="0"/>
              </a:rPr>
              <a:t>la filière du jus de fruits contribue fortement au développement économique local.</a:t>
            </a:r>
          </a:p>
          <a:p>
            <a:pPr marL="0" indent="0" algn="just">
              <a:buNone/>
            </a:pPr>
            <a:r>
              <a:rPr lang="fr-FR" sz="2200" b="1" dirty="0">
                <a:latin typeface="Arial" panose="020B0604020202020204" pitchFamily="34" charset="0"/>
                <a:cs typeface="Arial" panose="020B0604020202020204" pitchFamily="34" charset="0"/>
              </a:rPr>
              <a:t>L’annexe 4 permet de relever trois autres externalités positives :</a:t>
            </a:r>
            <a:endParaRPr lang="fr-FR" sz="2200" dirty="0">
              <a:latin typeface="Arial" panose="020B0604020202020204" pitchFamily="34" charset="0"/>
              <a:cs typeface="Arial" panose="020B0604020202020204" pitchFamily="34" charset="0"/>
            </a:endParaRPr>
          </a:p>
          <a:p>
            <a:pPr marL="0" indent="0" algn="just">
              <a:buNone/>
            </a:pPr>
            <a:endParaRPr lang="fr-FR" sz="2200" dirty="0">
              <a:latin typeface="Arial" panose="020B0604020202020204" pitchFamily="34" charset="0"/>
              <a:cs typeface="Arial" panose="020B0604020202020204" pitchFamily="34" charset="0"/>
            </a:endParaRPr>
          </a:p>
          <a:p>
            <a:pPr lvl="0" algn="just"/>
            <a:r>
              <a:rPr lang="fr-FR" sz="2200" dirty="0">
                <a:latin typeface="Arial" panose="020B0604020202020204" pitchFamily="34" charset="0"/>
                <a:cs typeface="Arial" panose="020B0604020202020204" pitchFamily="34" charset="0"/>
              </a:rPr>
              <a:t>la production de produits bio est bonne pour l’environnement</a:t>
            </a:r>
          </a:p>
          <a:p>
            <a:pPr lvl="0" algn="just"/>
            <a:r>
              <a:rPr lang="fr-FR" sz="2200" dirty="0">
                <a:latin typeface="Arial" panose="020B0604020202020204" pitchFamily="34" charset="0"/>
                <a:cs typeface="Arial" panose="020B0604020202020204" pitchFamily="34" charset="0"/>
              </a:rPr>
              <a:t>manger bio est susceptible d’améliore la santé </a:t>
            </a:r>
          </a:p>
          <a:p>
            <a:pPr lvl="0" algn="just"/>
            <a:r>
              <a:rPr lang="fr-FR" sz="2200" dirty="0">
                <a:latin typeface="Arial" panose="020B0604020202020204" pitchFamily="34" charset="0"/>
                <a:cs typeface="Arial" panose="020B0604020202020204" pitchFamily="34" charset="0"/>
              </a:rPr>
              <a:t>l’engagement dans le bio est considéré comme un engagement social et durable.</a:t>
            </a:r>
          </a:p>
          <a:p>
            <a:pPr algn="just"/>
            <a:r>
              <a:rPr lang="fr-FR" sz="2200" dirty="0">
                <a:latin typeface="Arial" panose="020B0604020202020204" pitchFamily="34" charset="0"/>
                <a:cs typeface="Arial" panose="020B0604020202020204" pitchFamily="34" charset="0"/>
              </a:rPr>
              <a:t>Pas de le corrigé : circuit court donc + pour l’environnement</a:t>
            </a:r>
          </a:p>
          <a:p>
            <a:pPr marL="0" indent="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6195"/>
            <a:ext cx="8229600" cy="766916"/>
          </a:xfrm>
        </p:spPr>
        <p:txBody>
          <a:bodyPr>
            <a:normAutofit fontScale="90000"/>
          </a:bodyPr>
          <a:lstStyle/>
          <a:p>
            <a:pPr algn="l"/>
            <a:br>
              <a:rPr lang="fr-FR" sz="2000" b="1" dirty="0">
                <a:latin typeface="Arial" panose="020B0604020202020204" pitchFamily="34" charset="0"/>
                <a:cs typeface="Arial" panose="020B0604020202020204" pitchFamily="34" charset="0"/>
              </a:rPr>
            </a:br>
            <a:br>
              <a:rPr lang="fr-FR" sz="2000" b="1" dirty="0">
                <a:latin typeface="Arial" panose="020B0604020202020204" pitchFamily="34" charset="0"/>
                <a:cs typeface="Arial" panose="020B0604020202020204" pitchFamily="34" charset="0"/>
              </a:rPr>
            </a:br>
            <a:br>
              <a:rPr lang="fr-FR" sz="2000" b="1" dirty="0">
                <a:latin typeface="Arial" panose="020B0604020202020204" pitchFamily="34" charset="0"/>
                <a:cs typeface="Arial" panose="020B0604020202020204" pitchFamily="34" charset="0"/>
              </a:rPr>
            </a:br>
            <a:r>
              <a:rPr lang="fr-FR" sz="1800" b="1" dirty="0">
                <a:latin typeface="Arial" panose="020B0604020202020204" pitchFamily="34" charset="0"/>
                <a:cs typeface="Arial" panose="020B0604020202020204" pitchFamily="34" charset="0"/>
              </a:rPr>
              <a:t>1.3 Analyser les conséquences des politiques nationales et européennes sur</a:t>
            </a:r>
            <a:br>
              <a:rPr lang="fr-FR" sz="1800" b="1" dirty="0">
                <a:latin typeface="Arial" panose="020B0604020202020204" pitchFamily="34" charset="0"/>
                <a:cs typeface="Arial" panose="020B0604020202020204" pitchFamily="34" charset="0"/>
              </a:rPr>
            </a:br>
            <a:r>
              <a:rPr lang="fr-FR" sz="1800" b="1" dirty="0">
                <a:latin typeface="Arial" panose="020B0604020202020204" pitchFamily="34" charset="0"/>
                <a:cs typeface="Arial" panose="020B0604020202020204" pitchFamily="34" charset="0"/>
              </a:rPr>
              <a:t>l’activité de l’entreprise « Verger de Thau ». (2 points</a:t>
            </a:r>
            <a:r>
              <a:rPr lang="fr-FR" sz="2000" b="1" dirty="0">
                <a:latin typeface="Arial" panose="020B0604020202020204" pitchFamily="34" charset="0"/>
                <a:cs typeface="Arial" panose="020B0604020202020204" pitchFamily="34" charset="0"/>
              </a:rPr>
              <a:t>)</a:t>
            </a:r>
            <a:br>
              <a:rPr lang="fr-FR" sz="2000" dirty="0">
                <a:latin typeface="Arial" panose="020B0604020202020204" pitchFamily="34" charset="0"/>
                <a:cs typeface="Arial" panose="020B0604020202020204" pitchFamily="34" charset="0"/>
              </a:rPr>
            </a:br>
            <a:br>
              <a:rPr lang="fr-FR" sz="1800" b="1" dirty="0">
                <a:latin typeface="Arial" panose="020B0604020202020204" pitchFamily="34" charset="0"/>
                <a:cs typeface="Arial" panose="020B0604020202020204" pitchFamily="34" charset="0"/>
              </a:rPr>
            </a:br>
            <a:br>
              <a:rPr lang="fr-FR" sz="1800" b="1" dirty="0">
                <a:latin typeface="Arial" panose="020B0604020202020204" pitchFamily="34" charset="0"/>
                <a:cs typeface="Arial" panose="020B0604020202020204" pitchFamily="34" charset="0"/>
              </a:rPr>
            </a:br>
            <a:r>
              <a:rPr lang="fr-FR" dirty="0"/>
              <a:t> </a:t>
            </a:r>
            <a:endParaRPr dirty="0"/>
          </a:p>
        </p:txBody>
      </p:sp>
      <p:sp>
        <p:nvSpPr>
          <p:cNvPr id="3" name="Content Placeholder 2"/>
          <p:cNvSpPr>
            <a:spLocks noGrp="1"/>
          </p:cNvSpPr>
          <p:nvPr>
            <p:ph idx="1"/>
          </p:nvPr>
        </p:nvSpPr>
        <p:spPr>
          <a:xfrm>
            <a:off x="457200" y="1106129"/>
            <a:ext cx="8229600" cy="5020035"/>
          </a:xfrm>
        </p:spPr>
        <p:txBody>
          <a:bodyPr>
            <a:normAutofit fontScale="55000" lnSpcReduction="20000"/>
          </a:bodyPr>
          <a:lstStyle/>
          <a:p>
            <a:pPr marL="0" indent="0" algn="just">
              <a:buNone/>
            </a:pPr>
            <a:endParaRPr lang="fr-FR" dirty="0">
              <a:latin typeface="Arial" panose="020B0604020202020204" pitchFamily="34" charset="0"/>
              <a:cs typeface="Arial" panose="020B0604020202020204" pitchFamily="34" charset="0"/>
            </a:endParaRPr>
          </a:p>
          <a:p>
            <a:pPr marL="0" indent="0" algn="just">
              <a:buNone/>
            </a:pPr>
            <a:r>
              <a:rPr lang="fr-FR" dirty="0">
                <a:latin typeface="Arial" panose="020B0604020202020204" pitchFamily="34" charset="0"/>
                <a:cs typeface="Arial" panose="020B0604020202020204" pitchFamily="34" charset="0"/>
              </a:rPr>
              <a:t>Le verbe ANALYSER oblige à une explication et on attend </a:t>
            </a:r>
            <a:r>
              <a:rPr lang="fr-FR" b="1" u="sng" dirty="0">
                <a:latin typeface="Arial" panose="020B0604020202020204" pitchFamily="34" charset="0"/>
                <a:cs typeface="Arial" panose="020B0604020202020204" pitchFamily="34" charset="0"/>
              </a:rPr>
              <a:t>une conclusion</a:t>
            </a:r>
            <a:r>
              <a:rPr lang="fr-FR" dirty="0">
                <a:latin typeface="Arial" panose="020B0604020202020204" pitchFamily="34" charset="0"/>
                <a:cs typeface="Arial" panose="020B0604020202020204" pitchFamily="34" charset="0"/>
              </a:rPr>
              <a:t> (NE ici)</a:t>
            </a:r>
          </a:p>
          <a:p>
            <a:pPr marL="0" indent="0" algn="just">
              <a:buNone/>
            </a:pPr>
            <a:endParaRPr lang="fr-FR" dirty="0">
              <a:latin typeface="Arial" panose="020B0604020202020204" pitchFamily="34" charset="0"/>
              <a:cs typeface="Arial" panose="020B0604020202020204" pitchFamily="34" charset="0"/>
            </a:endParaRPr>
          </a:p>
          <a:p>
            <a:pPr marL="0" lvl="0" indent="0" algn="just">
              <a:buNone/>
            </a:pPr>
            <a:r>
              <a:rPr lang="fr-FR" b="1" dirty="0">
                <a:latin typeface="Arial" panose="020B0604020202020204" pitchFamily="34" charset="0"/>
                <a:cs typeface="Arial" panose="020B0604020202020204" pitchFamily="34" charset="0"/>
              </a:rPr>
              <a:t>La politique d’aide aux agriculteurs</a:t>
            </a:r>
            <a:r>
              <a:rPr lang="fr-FR" dirty="0">
                <a:latin typeface="Arial" panose="020B0604020202020204" pitchFamily="34" charset="0"/>
                <a:cs typeface="Arial" panose="020B0604020202020204" pitchFamily="34" charset="0"/>
              </a:rPr>
              <a:t> bio menée par l’État (crédit d’impôt en faveur de l’agriculture biologique) et les collectivités territoriales (aides complémentaires). Il s’agit ici de montrer que ces aides ont un impact positif sur l’activité de l’entreprise « Verger de Thau » dans la mesure où l’entreprise pourrait en bénéficier.</a:t>
            </a:r>
          </a:p>
          <a:p>
            <a:pPr marL="0" lvl="0" indent="0" algn="just">
              <a:buNone/>
            </a:pPr>
            <a:endParaRPr lang="fr-FR" dirty="0">
              <a:latin typeface="Arial" panose="020B0604020202020204" pitchFamily="34" charset="0"/>
              <a:cs typeface="Arial" panose="020B0604020202020204" pitchFamily="34" charset="0"/>
            </a:endParaRPr>
          </a:p>
          <a:p>
            <a:pPr marL="0" lvl="0" indent="0" algn="just">
              <a:buNone/>
            </a:pPr>
            <a:r>
              <a:rPr lang="fr-FR" b="1" dirty="0">
                <a:latin typeface="Arial" panose="020B0604020202020204" pitchFamily="34" charset="0"/>
                <a:cs typeface="Arial" panose="020B0604020202020204" pitchFamily="34" charset="0"/>
              </a:rPr>
              <a:t>La directive européenne</a:t>
            </a:r>
            <a:r>
              <a:rPr lang="fr-FR" dirty="0">
                <a:latin typeface="Arial" panose="020B0604020202020204" pitchFamily="34" charset="0"/>
                <a:cs typeface="Arial" panose="020B0604020202020204" pitchFamily="34" charset="0"/>
              </a:rPr>
              <a:t> relative aux jus de fruits : ici la politique menée par l’Union européenne peut apparaitre comme une source de contraintes pour l’activité de l’entreprise : du fait de cette directive, l’entreprise ne pourra plus, en effet, ajouter du sucre à ses jus de fruits. </a:t>
            </a:r>
          </a:p>
          <a:p>
            <a:pPr marL="0" lvl="0" indent="0" algn="just">
              <a:buNone/>
            </a:pPr>
            <a:endParaRPr lang="fr-FR" dirty="0">
              <a:latin typeface="Arial" panose="020B0604020202020204" pitchFamily="34" charset="0"/>
              <a:cs typeface="Arial" panose="020B0604020202020204" pitchFamily="34" charset="0"/>
            </a:endParaRPr>
          </a:p>
          <a:p>
            <a:pPr marL="0" indent="0" algn="just">
              <a:buNone/>
            </a:pPr>
            <a:r>
              <a:rPr lang="fr-FR" b="1" dirty="0">
                <a:latin typeface="Arial" panose="020B0604020202020204" pitchFamily="34" charset="0"/>
                <a:cs typeface="Arial" panose="020B0604020202020204" pitchFamily="34" charset="0"/>
              </a:rPr>
              <a:t>Le candidat doit conclure</a:t>
            </a:r>
            <a:r>
              <a:rPr lang="fr-FR" dirty="0">
                <a:latin typeface="Arial" panose="020B0604020202020204" pitchFamily="34" charset="0"/>
                <a:cs typeface="Arial" panose="020B0604020202020204" pitchFamily="34" charset="0"/>
              </a:rPr>
              <a:t> en rappelant cette ambivalence : les conséquences des politiques nationales et européennes pour l’entreprise peuvent être positives (source de facilitation) ou négatives (sources de contraintes).</a:t>
            </a:r>
          </a:p>
          <a:p>
            <a:pPr marL="0" indent="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186" y="353962"/>
            <a:ext cx="8111613" cy="870156"/>
          </a:xfrm>
        </p:spPr>
        <p:txBody>
          <a:bodyPr>
            <a:normAutofit fontScale="90000"/>
          </a:bodyPr>
          <a:lstStyle/>
          <a:p>
            <a:pPr algn="just"/>
            <a:br>
              <a:rPr lang="fr-FR" sz="2000" b="1" dirty="0">
                <a:latin typeface="Arial" panose="020B0604020202020204" pitchFamily="34" charset="0"/>
                <a:cs typeface="Arial" panose="020B0604020202020204" pitchFamily="34" charset="0"/>
              </a:rPr>
            </a:br>
            <a:br>
              <a:rPr lang="fr-FR" sz="2000" b="1" dirty="0">
                <a:latin typeface="Arial" panose="020B0604020202020204" pitchFamily="34" charset="0"/>
                <a:cs typeface="Arial" panose="020B0604020202020204" pitchFamily="34" charset="0"/>
              </a:rPr>
            </a:br>
            <a:r>
              <a:rPr lang="fr-FR" sz="2000" b="1" dirty="0">
                <a:latin typeface="Arial" panose="020B0604020202020204" pitchFamily="34" charset="0"/>
                <a:cs typeface="Arial" panose="020B0604020202020204" pitchFamily="34" charset="0"/>
              </a:rPr>
              <a:t>2.1 Évaluer, à l’aide d’un raisonnement juridique, la légalité de la rupture des</a:t>
            </a:r>
            <a:br>
              <a:rPr lang="fr-FR" sz="2000" b="1" dirty="0">
                <a:latin typeface="Arial" panose="020B0604020202020204" pitchFamily="34" charset="0"/>
                <a:cs typeface="Arial" panose="020B0604020202020204" pitchFamily="34" charset="0"/>
              </a:rPr>
            </a:br>
            <a:r>
              <a:rPr lang="fr-FR" sz="2000" b="1" dirty="0">
                <a:latin typeface="Arial" panose="020B0604020202020204" pitchFamily="34" charset="0"/>
                <a:cs typeface="Arial" panose="020B0604020202020204" pitchFamily="34" charset="0"/>
              </a:rPr>
              <a:t>pourparlers des dirigeants de « La Graine » (3 points) </a:t>
            </a:r>
            <a:br>
              <a:rPr lang="fr-FR" dirty="0"/>
            </a:br>
            <a:endParaRPr dirty="0"/>
          </a:p>
        </p:txBody>
      </p:sp>
      <p:sp>
        <p:nvSpPr>
          <p:cNvPr id="3" name="Content Placeholder 2"/>
          <p:cNvSpPr>
            <a:spLocks noGrp="1"/>
          </p:cNvSpPr>
          <p:nvPr>
            <p:ph idx="1"/>
          </p:nvPr>
        </p:nvSpPr>
        <p:spPr/>
        <p:txBody>
          <a:bodyPr>
            <a:normAutofit fontScale="70000" lnSpcReduction="20000"/>
          </a:bodyPr>
          <a:lstStyle/>
          <a:p>
            <a:pPr marL="0" indent="0" algn="just">
              <a:buNone/>
            </a:pPr>
            <a:r>
              <a:rPr lang="fr-FR" dirty="0">
                <a:latin typeface="Arial" panose="020B0604020202020204" pitchFamily="34" charset="0"/>
                <a:cs typeface="Arial" panose="020B0604020202020204" pitchFamily="34" charset="0"/>
              </a:rPr>
              <a:t>Le verbe EVALUER (à l’aide d’un raisonnement juridique) oblige le candidat à rappeler les faits (non évalué)</a:t>
            </a:r>
          </a:p>
          <a:p>
            <a:pPr marL="0" indent="0" algn="just">
              <a:buNone/>
            </a:pPr>
            <a:endParaRPr lang="fr-FR" dirty="0">
              <a:latin typeface="Arial" panose="020B0604020202020204" pitchFamily="34" charset="0"/>
              <a:cs typeface="Arial" panose="020B0604020202020204" pitchFamily="34" charset="0"/>
            </a:endParaRPr>
          </a:p>
          <a:p>
            <a:pPr marL="0" indent="0" algn="just">
              <a:buNone/>
            </a:pPr>
            <a:r>
              <a:rPr lang="fr-FR" dirty="0">
                <a:latin typeface="Arial" panose="020B0604020202020204" pitchFamily="34" charset="0"/>
                <a:cs typeface="Arial" panose="020B0604020202020204" pitchFamily="34" charset="0"/>
              </a:rPr>
              <a:t>Il doit à un moment ou à un autre expliquer la notion qui est mise en évidence. Ici le </a:t>
            </a:r>
            <a:r>
              <a:rPr lang="fr-FR" dirty="0" err="1">
                <a:latin typeface="Arial" panose="020B0604020202020204" pitchFamily="34" charset="0"/>
                <a:cs typeface="Arial" panose="020B0604020202020204" pitchFamily="34" charset="0"/>
              </a:rPr>
              <a:t>Pourparler</a:t>
            </a:r>
            <a:r>
              <a:rPr lang="fr-FR" dirty="0">
                <a:latin typeface="Arial" panose="020B0604020202020204" pitchFamily="34" charset="0"/>
                <a:cs typeface="Arial" panose="020B0604020202020204" pitchFamily="34" charset="0"/>
              </a:rPr>
              <a:t> (1 point) </a:t>
            </a:r>
          </a:p>
          <a:p>
            <a:pPr marL="0" indent="0" algn="just">
              <a:buNone/>
            </a:pPr>
            <a:endParaRPr lang="fr-FR" dirty="0">
              <a:latin typeface="Arial" panose="020B0604020202020204" pitchFamily="34" charset="0"/>
              <a:cs typeface="Arial" panose="020B0604020202020204" pitchFamily="34" charset="0"/>
            </a:endParaRPr>
          </a:p>
          <a:p>
            <a:pPr marL="0" lvl="0" indent="0" algn="just">
              <a:buNone/>
            </a:pPr>
            <a:r>
              <a:rPr lang="fr-FR" b="1" dirty="0">
                <a:latin typeface="Arial" panose="020B0604020202020204" pitchFamily="34" charset="0"/>
                <a:cs typeface="Arial" panose="020B0604020202020204" pitchFamily="34" charset="0"/>
              </a:rPr>
              <a:t>Rappel des faits de l’espèce</a:t>
            </a:r>
            <a:r>
              <a:rPr lang="fr-FR" dirty="0">
                <a:latin typeface="Arial" panose="020B0604020202020204" pitchFamily="34" charset="0"/>
                <a:cs typeface="Arial" panose="020B0604020202020204" pitchFamily="34" charset="0"/>
              </a:rPr>
              <a:t> : Michel Garcia, représentant de la personne morale, « Verger de Thau », négocie avec les représentants de la personne morale « La Graine », un contrat commercial en vue de vendre ses jus de fruits sur leur plateforme. Alors que les négociées sont achevées et que le contrat est prêt à être signé, les représentants de « La Graine » refusent de signer le contrat et abandonnent toute perspective de relation commerciale avec Michel Garcia.</a:t>
            </a:r>
          </a:p>
          <a:p>
            <a:pPr marL="0" indent="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89936"/>
            <a:ext cx="8229600" cy="5536228"/>
          </a:xfrm>
        </p:spPr>
        <p:txBody>
          <a:bodyPr>
            <a:normAutofit fontScale="47500" lnSpcReduction="20000"/>
          </a:bodyPr>
          <a:lstStyle/>
          <a:p>
            <a:pPr marL="0" indent="0" algn="just">
              <a:buNone/>
            </a:pPr>
            <a:r>
              <a:rPr lang="fr-FR" sz="3500" dirty="0">
                <a:latin typeface="Arial" panose="020B0604020202020204" pitchFamily="34" charset="0"/>
                <a:cs typeface="Arial" panose="020B0604020202020204" pitchFamily="34" charset="0"/>
              </a:rPr>
              <a:t>Question de droit : Les représentants de « la Graine » ont-ils commis un dommage en rompant ainsi les pourparlers avec Michel Garcia ?</a:t>
            </a:r>
          </a:p>
          <a:p>
            <a:pPr marL="0" indent="0" algn="just">
              <a:buNone/>
            </a:pPr>
            <a:r>
              <a:rPr lang="fr-FR" sz="3500" dirty="0">
                <a:latin typeface="Arial" panose="020B0604020202020204" pitchFamily="34" charset="0"/>
                <a:cs typeface="Arial" panose="020B0604020202020204" pitchFamily="34" charset="0"/>
              </a:rPr>
              <a:t> </a:t>
            </a:r>
          </a:p>
          <a:p>
            <a:pPr marL="0" lvl="0" indent="0" algn="just">
              <a:buNone/>
            </a:pPr>
            <a:r>
              <a:rPr lang="fr-FR" sz="3500" dirty="0">
                <a:latin typeface="Arial" panose="020B0604020202020204" pitchFamily="34" charset="0"/>
                <a:cs typeface="Arial" panose="020B0604020202020204" pitchFamily="34" charset="0"/>
              </a:rPr>
              <a:t>Rappel de la règle de droit (du principe juridique applicable) : la phase précontractuelle est gouvernée par le principe de liberté contractuelle. En principe donc toute entreprise peut décider de rompre des pourparlers et ne pas s’engager. Néanmoins, cette liberté contractuelle s’accompagne d’une obligation précontractuelle de bonne foi. Celle-ci impose aux parties d’être de bonne foi, même pendant la phase précontractuelle. Le juge considérera qu’une partie n’est pas de bonne foi si l’une des parties rompt brutalement les pourparlers. C’est ce que rappelle ici l’arrêt de la Cour de cassation </a:t>
            </a:r>
          </a:p>
          <a:p>
            <a:pPr marL="0" indent="0" algn="just">
              <a:buNone/>
            </a:pPr>
            <a:r>
              <a:rPr lang="fr-FR" sz="3500" dirty="0">
                <a:latin typeface="Arial" panose="020B0604020202020204" pitchFamily="34" charset="0"/>
                <a:cs typeface="Arial" panose="020B0604020202020204" pitchFamily="34" charset="0"/>
              </a:rPr>
              <a:t> </a:t>
            </a:r>
          </a:p>
          <a:p>
            <a:pPr marL="0" lvl="0" indent="0" algn="just">
              <a:buNone/>
            </a:pPr>
            <a:r>
              <a:rPr lang="fr-FR" sz="3500" dirty="0">
                <a:latin typeface="Arial" panose="020B0604020202020204" pitchFamily="34" charset="0"/>
                <a:cs typeface="Arial" panose="020B0604020202020204" pitchFamily="34" charset="0"/>
              </a:rPr>
              <a:t>Application du principe aux faits de l’espèce : ici, les pourparlers étaient très largement avancés, le contrat est finalisé après plusieurs semaines de négociation, aucune opposition ne parait demeurer, la signature doit avoir lieu le lendemain. Pour autant, sans aucune explication, « La Graine » décide de se rétracter. Le caractère imprévisible, subi, non expliqué de la rupture des pourparlers (après de longues semaines sans difficultés) semble indiquer que les pourparlers ont été rompus brutalement. (1 point) </a:t>
            </a:r>
          </a:p>
          <a:p>
            <a:pPr marL="0" indent="0" algn="just">
              <a:buNone/>
            </a:pPr>
            <a:r>
              <a:rPr lang="fr-FR" sz="3500" dirty="0">
                <a:latin typeface="Arial" panose="020B0604020202020204" pitchFamily="34" charset="0"/>
                <a:cs typeface="Arial" panose="020B0604020202020204" pitchFamily="34" charset="0"/>
              </a:rPr>
              <a:t> </a:t>
            </a:r>
          </a:p>
          <a:p>
            <a:pPr marL="0" lvl="0" indent="0" algn="just">
              <a:buNone/>
            </a:pPr>
            <a:endParaRPr lang="fr-FR" sz="3500" dirty="0">
              <a:latin typeface="Arial" panose="020B0604020202020204" pitchFamily="34" charset="0"/>
              <a:cs typeface="Arial" panose="020B0604020202020204" pitchFamily="34" charset="0"/>
            </a:endParaRPr>
          </a:p>
          <a:p>
            <a:pPr marL="0" lvl="0" indent="0" algn="just">
              <a:buNone/>
            </a:pPr>
            <a:r>
              <a:rPr lang="fr-FR" sz="3500" b="1" dirty="0">
                <a:latin typeface="Arial" panose="020B0604020202020204" pitchFamily="34" charset="0"/>
                <a:cs typeface="Arial" panose="020B0604020202020204" pitchFamily="34" charset="0"/>
              </a:rPr>
              <a:t>Solution </a:t>
            </a:r>
            <a:r>
              <a:rPr lang="fr-FR" sz="3500" dirty="0">
                <a:latin typeface="Arial" panose="020B0604020202020204" pitchFamily="34" charset="0"/>
                <a:cs typeface="Arial" panose="020B0604020202020204" pitchFamily="34" charset="0"/>
              </a:rPr>
              <a:t>: Michel Garcia devrait donc pouvoir obtenir des dommages et intérêts de la part de « La Graine » (notamment pour se faire rembourser des frais engagés au cours des négociations). (1 point)</a:t>
            </a:r>
          </a:p>
          <a:p>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noAutofit/>
          </a:bodyPr>
          <a:lstStyle/>
          <a:p>
            <a:r>
              <a:rPr lang="fr-FR" sz="2000" b="1" dirty="0">
                <a:latin typeface="Arial" panose="020B0604020202020204" pitchFamily="34" charset="0"/>
                <a:cs typeface="Arial" panose="020B0604020202020204" pitchFamily="34" charset="0"/>
              </a:rPr>
              <a:t>2.2 Expliquer, en termes économiques, les principaux intérêts pour l’entreprise « Verger de Thau » d’utiliser une place de marché comme « La Graine ». (3 points)</a:t>
            </a:r>
            <a:br>
              <a:rPr lang="fr-FR" sz="2000" dirty="0">
                <a:latin typeface="Arial" panose="020B0604020202020204" pitchFamily="34" charset="0"/>
                <a:cs typeface="Arial" panose="020B0604020202020204" pitchFamily="34" charset="0"/>
              </a:rPr>
            </a:br>
            <a:endParaRPr sz="2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303338"/>
            <a:ext cx="8229600" cy="4822826"/>
          </a:xfrm>
        </p:spPr>
        <p:txBody>
          <a:bodyPr>
            <a:normAutofit fontScale="47500" lnSpcReduction="20000"/>
          </a:bodyPr>
          <a:lstStyle/>
          <a:p>
            <a:pPr marL="0" lvl="0" indent="0" algn="just">
              <a:buNone/>
            </a:pPr>
            <a:r>
              <a:rPr lang="fr-FR" dirty="0">
                <a:latin typeface="Arial" panose="020B0604020202020204" pitchFamily="34" charset="0"/>
                <a:cs typeface="Arial" panose="020B0604020202020204" pitchFamily="34" charset="0"/>
              </a:rPr>
              <a:t>Fonctionnement de la plateforme « La Graine » : l’accès à cette plateforme permet de bénéficier d’effets de réseaux : en utilisant la plateforme, Michel Garcia pourra accéder à un grand nombre de consommateurs (25 000). Il élargit donc considérablement sa clientèle potentielle.</a:t>
            </a:r>
          </a:p>
          <a:p>
            <a:pPr marL="0" lvl="0" indent="0" algn="just">
              <a:buNone/>
            </a:pPr>
            <a:endParaRPr lang="fr-FR" dirty="0">
              <a:latin typeface="Arial" panose="020B0604020202020204" pitchFamily="34" charset="0"/>
              <a:cs typeface="Arial" panose="020B0604020202020204" pitchFamily="34" charset="0"/>
            </a:endParaRPr>
          </a:p>
          <a:p>
            <a:pPr lvl="0" algn="just"/>
            <a:r>
              <a:rPr lang="fr-FR" b="1" dirty="0">
                <a:latin typeface="Arial" panose="020B0604020202020204" pitchFamily="34" charset="0"/>
                <a:cs typeface="Arial" panose="020B0604020202020204" pitchFamily="34" charset="0"/>
              </a:rPr>
              <a:t>Le développement croissant du e-commerce </a:t>
            </a:r>
            <a:r>
              <a:rPr lang="fr-FR" dirty="0">
                <a:latin typeface="Arial" panose="020B0604020202020204" pitchFamily="34" charset="0"/>
                <a:cs typeface="Arial" panose="020B0604020202020204" pitchFamily="34" charset="0"/>
              </a:rPr>
              <a:t>des produits alimentaires bio. Ce nouveau mode de distribution apparait donc comme une opportunité pour l’entreprise « Verger de Thau ». On prédit une tendance forte à l’augmentation du e-commerce alimentaire. Dans les années à venir, les consommateurs achèteront donc toujours plus sur internet. L’entreprise a donc un intérêt économique à profiter de cette tendance en utilisant une place de marché. (2 points)</a:t>
            </a:r>
          </a:p>
          <a:p>
            <a:pPr marL="0" indent="0" algn="just">
              <a:buNone/>
            </a:pPr>
            <a:r>
              <a:rPr lang="fr-FR" dirty="0">
                <a:latin typeface="Arial" panose="020B0604020202020204" pitchFamily="34" charset="0"/>
                <a:cs typeface="Arial" panose="020B0604020202020204" pitchFamily="34" charset="0"/>
              </a:rPr>
              <a:t> </a:t>
            </a:r>
          </a:p>
          <a:p>
            <a:pPr lvl="0" algn="just"/>
            <a:r>
              <a:rPr lang="fr-FR" dirty="0">
                <a:latin typeface="Arial" panose="020B0604020202020204" pitchFamily="34" charset="0"/>
                <a:cs typeface="Arial" panose="020B0604020202020204" pitchFamily="34" charset="0"/>
              </a:rPr>
              <a:t>Le candidat pourra également mettre en lumière deux autres avantages à utiliser une place de marché comme « La Graine » (éléments qui ne sont pas directement précisés dans les annexes) : (1 point)</a:t>
            </a:r>
          </a:p>
          <a:p>
            <a:pPr lvl="0" algn="just"/>
            <a:endParaRPr lang="fr-FR" dirty="0">
              <a:latin typeface="Arial" panose="020B0604020202020204" pitchFamily="34" charset="0"/>
              <a:cs typeface="Arial" panose="020B0604020202020204" pitchFamily="34" charset="0"/>
            </a:endParaRPr>
          </a:p>
          <a:p>
            <a:pPr lvl="0" algn="just"/>
            <a:r>
              <a:rPr lang="fr-FR" dirty="0">
                <a:latin typeface="Arial" panose="020B0604020202020204" pitchFamily="34" charset="0"/>
                <a:cs typeface="Arial" panose="020B0604020202020204" pitchFamily="34" charset="0"/>
              </a:rPr>
              <a:t>L’utilisation d’une plateforme existante permet un gain de coûts : il est moins coûteux pour une entreprise, notamment pour une petite structure comme l’est « Verger de Thau », d’utiliser une grande plateforme existante que de créer sa propre plateforme ;</a:t>
            </a:r>
          </a:p>
          <a:p>
            <a:pPr lvl="0" algn="just"/>
            <a:r>
              <a:rPr lang="fr-FR" dirty="0">
                <a:latin typeface="Arial" panose="020B0604020202020204" pitchFamily="34" charset="0"/>
                <a:cs typeface="Arial" panose="020B0604020202020204" pitchFamily="34" charset="0"/>
              </a:rPr>
              <a:t>Profiter de l’image de la plateforme : en utilisant la plateforme l’entreprise profite de l’image porteuse de la plateforme.</a:t>
            </a:r>
          </a:p>
          <a:p>
            <a:pPr marL="0" lvl="0" indent="0" algn="just">
              <a:buNone/>
            </a:pPr>
            <a:br>
              <a:rPr lang="fr-FR" dirty="0">
                <a:latin typeface="Arial" panose="020B0604020202020204" pitchFamily="34" charset="0"/>
                <a:cs typeface="Arial" panose="020B0604020202020204" pitchFamily="34" charset="0"/>
              </a:rPr>
            </a:br>
            <a:endParaRPr lang="fr-FR" dirty="0">
              <a:latin typeface="Arial" panose="020B0604020202020204" pitchFamily="34" charset="0"/>
              <a:cs typeface="Arial" panose="020B0604020202020204" pitchFamily="34" charset="0"/>
            </a:endParaRPr>
          </a:p>
          <a:p>
            <a:pPr marL="0" indent="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90485"/>
          </a:xfrm>
        </p:spPr>
        <p:txBody>
          <a:bodyPr>
            <a:normAutofit fontScale="90000"/>
          </a:bodyPr>
          <a:lstStyle/>
          <a:p>
            <a:br>
              <a:rPr lang="fr-FR" sz="2200" b="1" dirty="0">
                <a:latin typeface="Arial" panose="020B0604020202020204" pitchFamily="34" charset="0"/>
                <a:cs typeface="Arial" panose="020B0604020202020204" pitchFamily="34" charset="0"/>
              </a:rPr>
            </a:br>
            <a:r>
              <a:rPr lang="fr-FR" sz="2200" b="1" dirty="0">
                <a:latin typeface="Arial" panose="020B0604020202020204" pitchFamily="34" charset="0"/>
                <a:cs typeface="Arial" panose="020B0604020202020204" pitchFamily="34" charset="0"/>
              </a:rPr>
              <a:t>3.1 Démontrer en quoi l’entreprise « Verger de Thau » adopte une démarche RSE. (3 points)</a:t>
            </a:r>
            <a:br>
              <a:rPr lang="fr-FR" dirty="0"/>
            </a:br>
            <a:endParaRPr dirty="0"/>
          </a:p>
        </p:txBody>
      </p:sp>
      <p:sp>
        <p:nvSpPr>
          <p:cNvPr id="3" name="Content Placeholder 2"/>
          <p:cNvSpPr>
            <a:spLocks noGrp="1"/>
          </p:cNvSpPr>
          <p:nvPr>
            <p:ph idx="1"/>
          </p:nvPr>
        </p:nvSpPr>
        <p:spPr>
          <a:xfrm>
            <a:off x="457200" y="1165124"/>
            <a:ext cx="8229600" cy="4961040"/>
          </a:xfrm>
        </p:spPr>
        <p:txBody>
          <a:bodyPr>
            <a:normAutofit fontScale="62500" lnSpcReduction="20000"/>
          </a:bodyPr>
          <a:lstStyle/>
          <a:p>
            <a:pPr marL="0" indent="0">
              <a:buNone/>
            </a:pPr>
            <a:r>
              <a:rPr lang="fr-FR" dirty="0"/>
              <a:t>Définition d’une politique ou démarche RSE (1 point)</a:t>
            </a:r>
          </a:p>
          <a:p>
            <a:pPr marL="0" indent="0">
              <a:buNone/>
            </a:pPr>
            <a:r>
              <a:rPr lang="fr-FR" dirty="0"/>
              <a:t>L’annexe permet de mettre en lumière la démarche RSE de l’entreprise :(2 points)</a:t>
            </a:r>
          </a:p>
          <a:p>
            <a:pPr marL="0" indent="0">
              <a:buNone/>
            </a:pPr>
            <a:r>
              <a:rPr lang="fr-FR" dirty="0"/>
              <a:t> </a:t>
            </a:r>
          </a:p>
          <a:p>
            <a:pPr lvl="0" algn="just"/>
            <a:r>
              <a:rPr lang="fr-FR" dirty="0"/>
              <a:t>l’entreprise précise que sa production respecte la saisonnalité (logique</a:t>
            </a:r>
            <a:br>
              <a:rPr lang="fr-FR" dirty="0"/>
            </a:br>
            <a:r>
              <a:rPr lang="fr-FR" dirty="0"/>
              <a:t>environnementale) </a:t>
            </a:r>
          </a:p>
          <a:p>
            <a:pPr lvl="0" algn="just"/>
            <a:r>
              <a:rPr lang="fr-FR" dirty="0"/>
              <a:t>l’entreprise respecte un principe de vente à proximité : là encore, respect de la logique environnementale dans la mesure où l’entreprise cherche à réduire son empreinte carbone.</a:t>
            </a:r>
          </a:p>
          <a:p>
            <a:pPr lvl="0" algn="just"/>
            <a:r>
              <a:rPr lang="fr-FR" dirty="0"/>
              <a:t>l’entreprise a lancé une gamme bio pour être soucieuse de la santé des hommes et de la terre,: toujours dans la poursuite d’une exigence écologique.</a:t>
            </a:r>
          </a:p>
          <a:p>
            <a:pPr lvl="0" algn="just"/>
            <a:r>
              <a:rPr lang="fr-FR" dirty="0"/>
              <a:t>L’entreprise se montre solidaire : démarche sociale de l’entreprise.</a:t>
            </a:r>
            <a:br>
              <a:rPr lang="fr-FR" dirty="0"/>
            </a:br>
            <a:r>
              <a:rPr lang="fr-FR" dirty="0"/>
              <a:t>Par sa production locale, biologique et son principe de solidarité aux autres agriculteurs, l’entreprise « Verger de Thau » cherche bien à renforcer sa finalité sociétale (démarche écologique et solidaire).</a:t>
            </a:r>
            <a:br>
              <a:rPr lang="fr-FR" dirty="0"/>
            </a:br>
            <a:endParaRPr lang="fr-FR" dirty="0"/>
          </a:p>
          <a:p>
            <a:pPr algn="just"/>
            <a:r>
              <a:rPr lang="fr-FR" dirty="0"/>
              <a:t>Plus tout autre argument rentrant dans la démarche RSE</a:t>
            </a:r>
          </a:p>
          <a:p>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F7BB70-EAD5-23AD-B1CA-B8ECB95D1183}"/>
              </a:ext>
            </a:extLst>
          </p:cNvPr>
          <p:cNvSpPr>
            <a:spLocks noGrp="1"/>
          </p:cNvSpPr>
          <p:nvPr>
            <p:ph type="title"/>
          </p:nvPr>
        </p:nvSpPr>
        <p:spPr>
          <a:xfrm>
            <a:off x="457200" y="280220"/>
            <a:ext cx="8229600" cy="796412"/>
          </a:xfrm>
        </p:spPr>
        <p:txBody>
          <a:bodyPr>
            <a:normAutofit fontScale="90000"/>
          </a:bodyPr>
          <a:lstStyle/>
          <a:p>
            <a:br>
              <a:rPr lang="fr-FR" sz="2200" b="1" dirty="0">
                <a:latin typeface="Arial" panose="020B0604020202020204" pitchFamily="34" charset="0"/>
                <a:cs typeface="Arial" panose="020B0604020202020204" pitchFamily="34" charset="0"/>
              </a:rPr>
            </a:br>
            <a:br>
              <a:rPr lang="fr-FR" sz="2200" b="1" dirty="0">
                <a:latin typeface="Arial" panose="020B0604020202020204" pitchFamily="34" charset="0"/>
                <a:cs typeface="Arial" panose="020B0604020202020204" pitchFamily="34" charset="0"/>
              </a:rPr>
            </a:br>
            <a:r>
              <a:rPr lang="fr-FR" sz="2200" b="1" dirty="0">
                <a:latin typeface="Arial" panose="020B0604020202020204" pitchFamily="34" charset="0"/>
                <a:cs typeface="Arial" panose="020B0604020202020204" pitchFamily="34" charset="0"/>
              </a:rPr>
              <a:t>3.2 Expliquer pourquoi la mise en place d’une démarche RSE est source de croissance pour l’entreprise. (2 points)</a:t>
            </a:r>
            <a:br>
              <a:rPr lang="fr-FR" dirty="0"/>
            </a:br>
            <a:endParaRPr lang="fr-FR" dirty="0"/>
          </a:p>
        </p:txBody>
      </p:sp>
      <p:sp>
        <p:nvSpPr>
          <p:cNvPr id="3" name="Espace réservé du contenu 2">
            <a:extLst>
              <a:ext uri="{FF2B5EF4-FFF2-40B4-BE49-F238E27FC236}">
                <a16:creationId xmlns:a16="http://schemas.microsoft.com/office/drawing/2014/main" id="{F5252D83-A6D7-1B7C-6239-C5CF54EB6912}"/>
              </a:ext>
            </a:extLst>
          </p:cNvPr>
          <p:cNvSpPr>
            <a:spLocks noGrp="1"/>
          </p:cNvSpPr>
          <p:nvPr>
            <p:ph idx="1"/>
          </p:nvPr>
        </p:nvSpPr>
        <p:spPr>
          <a:xfrm>
            <a:off x="457200" y="1283110"/>
            <a:ext cx="8229600" cy="4843053"/>
          </a:xfrm>
        </p:spPr>
        <p:txBody>
          <a:bodyPr>
            <a:normAutofit fontScale="70000" lnSpcReduction="20000"/>
          </a:bodyPr>
          <a:lstStyle/>
          <a:p>
            <a:pPr lvl="0" algn="just"/>
            <a:r>
              <a:rPr lang="fr-FR" dirty="0">
                <a:latin typeface="Arial" panose="020B0604020202020204" pitchFamily="34" charset="0"/>
                <a:cs typeface="Arial" panose="020B0604020202020204" pitchFamily="34" charset="0"/>
              </a:rPr>
              <a:t>Une annexe évoque une étude selon laquelle il existerait un écart de croissance de 13 % entre les entreprises qui ont une démarche RSE et celles qui n’en ont pas. Cette annexe peut aussi être utilisée pour montrer que la démarche RSE permet de renforcer la cohésion interne parce que cette démarche prend appui sur les différentes parties prenantes de l’entreprise. Le coût de cette démarche apparait par ailleurs faible au regard des gains attendus. Dès lors, cette démarche en diminuant les coûts et en favorisant la cohésion, facilite la croissance de l’entreprise.</a:t>
            </a:r>
          </a:p>
          <a:p>
            <a:pPr algn="just"/>
            <a:endParaRPr lang="fr-FR" dirty="0">
              <a:latin typeface="Arial" panose="020B0604020202020204" pitchFamily="34" charset="0"/>
              <a:cs typeface="Arial" panose="020B0604020202020204" pitchFamily="34" charset="0"/>
            </a:endParaRPr>
          </a:p>
          <a:p>
            <a:pPr lvl="0" algn="just"/>
            <a:r>
              <a:rPr lang="fr-FR" dirty="0">
                <a:latin typeface="Arial" panose="020B0604020202020204" pitchFamily="34" charset="0"/>
                <a:cs typeface="Arial" panose="020B0604020202020204" pitchFamily="34" charset="0"/>
              </a:rPr>
              <a:t>On pourra aussi rappeler que la démarche RSE comporte un enjeu marketing important, beaucoup de consommateurs étant sensibles à la démarche sociale et écologique des entreprises. Avoir une démarche RSE peut donc permettre de toucher une clientèle sensible à ces enjeux.</a:t>
            </a:r>
          </a:p>
          <a:p>
            <a:endParaRPr lang="fr-FR" dirty="0"/>
          </a:p>
        </p:txBody>
      </p:sp>
    </p:spTree>
    <p:extLst>
      <p:ext uri="{BB962C8B-B14F-4D97-AF65-F5344CB8AC3E}">
        <p14:creationId xmlns:p14="http://schemas.microsoft.com/office/powerpoint/2010/main" val="153521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7779F7F58BDC42A116CD036841F97D" ma:contentTypeVersion="10" ma:contentTypeDescription="Crée un document." ma:contentTypeScope="" ma:versionID="c6b48c4e0eb6f861c0dd87085a39068a">
  <xsd:schema xmlns:xsd="http://www.w3.org/2001/XMLSchema" xmlns:xs="http://www.w3.org/2001/XMLSchema" xmlns:p="http://schemas.microsoft.com/office/2006/metadata/properties" xmlns:ns2="91650a9d-3f4b-4afa-b39a-b2635bb027fc" xmlns:ns3="427eaa97-292c-4878-b230-c18f48eb43ab" targetNamespace="http://schemas.microsoft.com/office/2006/metadata/properties" ma:root="true" ma:fieldsID="0295ee83130381c17496217ce14c2720" ns2:_="" ns3:_="">
    <xsd:import namespace="91650a9d-3f4b-4afa-b39a-b2635bb027fc"/>
    <xsd:import namespace="427eaa97-292c-4878-b230-c18f48eb43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50a9d-3f4b-4afa-b39a-b2635bb027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2a615af2-9360-4f91-bf01-993a0f0e51e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7eaa97-292c-4878-b230-c18f48eb43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dd1a7e5-264d-4853-9935-1f57a5601a06}" ma:internalName="TaxCatchAll" ma:showField="CatchAllData" ma:web="427eaa97-292c-4878-b230-c18f48eb43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1650a9d-3f4b-4afa-b39a-b2635bb027fc">
      <Terms xmlns="http://schemas.microsoft.com/office/infopath/2007/PartnerControls"/>
    </lcf76f155ced4ddcb4097134ff3c332f>
    <TaxCatchAll xmlns="427eaa97-292c-4878-b230-c18f48eb43ab" xsi:nil="true"/>
  </documentManagement>
</p:properties>
</file>

<file path=customXml/itemProps1.xml><?xml version="1.0" encoding="utf-8"?>
<ds:datastoreItem xmlns:ds="http://schemas.openxmlformats.org/officeDocument/2006/customXml" ds:itemID="{E6C8363C-3E09-457C-957D-8A294A144A3D}"/>
</file>

<file path=customXml/itemProps2.xml><?xml version="1.0" encoding="utf-8"?>
<ds:datastoreItem xmlns:ds="http://schemas.openxmlformats.org/officeDocument/2006/customXml" ds:itemID="{4E488ADC-4912-481F-82ED-68381F06C54C}"/>
</file>

<file path=customXml/itemProps3.xml><?xml version="1.0" encoding="utf-8"?>
<ds:datastoreItem xmlns:ds="http://schemas.openxmlformats.org/officeDocument/2006/customXml" ds:itemID="{B2E33A32-C7F2-4901-9BC4-532C7079E6F2}"/>
</file>

<file path=docProps/app.xml><?xml version="1.0" encoding="utf-8"?>
<Properties xmlns="http://schemas.openxmlformats.org/officeDocument/2006/extended-properties" xmlns:vt="http://schemas.openxmlformats.org/officeDocument/2006/docPropsVTypes">
  <TotalTime>23</TotalTime>
  <Words>1479</Words>
  <Application>Microsoft Office PowerPoint</Application>
  <PresentationFormat>Affichage à l'écran (4:3)</PresentationFormat>
  <Paragraphs>65</Paragraphs>
  <Slides>9</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Arial</vt:lpstr>
      <vt:lpstr>Calibri</vt:lpstr>
      <vt:lpstr>Office Theme</vt:lpstr>
      <vt:lpstr>CEJM – BTS SIO 1ère année</vt:lpstr>
      <vt:lpstr>1.1 Caractérisez l’entreprise « verger de Thau » (3 points)</vt:lpstr>
      <vt:lpstr> 1.2 Analyser les externalités positives créées par l’entreprise « Verger de Thau » (3 points) </vt:lpstr>
      <vt:lpstr>   1.3 Analyser les conséquences des politiques nationales et européennes sur l’activité de l’entreprise « Verger de Thau ». (2 points)    </vt:lpstr>
      <vt:lpstr>  2.1 Évaluer, à l’aide d’un raisonnement juridique, la légalité de la rupture des pourparlers des dirigeants de « La Graine » (3 points)  </vt:lpstr>
      <vt:lpstr>Présentation PowerPoint</vt:lpstr>
      <vt:lpstr>2.2 Expliquer, en termes économiques, les principaux intérêts pour l’entreprise « Verger de Thau » d’utiliser une place de marché comme « La Graine ». (3 points) </vt:lpstr>
      <vt:lpstr> 3.1 Démontrer en quoi l’entreprise « Verger de Thau » adopte une démarche RSE. (3 points) </vt:lpstr>
      <vt:lpstr>  3.2 Expliquer pourquoi la mise en place d’une démarche RSE est source de croissance pour l’entreprise. (2 points)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DELL</cp:lastModifiedBy>
  <cp:revision>14</cp:revision>
  <dcterms:created xsi:type="dcterms:W3CDTF">2013-01-27T09:14:16Z</dcterms:created>
  <dcterms:modified xsi:type="dcterms:W3CDTF">2026-01-23T09:32:26Z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0x010100AF7779F7F58BDC42A116CD036841F97D</vt:lpwstr>
  </property>
</Properties>
</file>